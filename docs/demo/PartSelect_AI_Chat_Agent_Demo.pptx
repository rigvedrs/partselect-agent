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1b2e7882bd24a73" /><Relationship Type="http://schemas.openxmlformats.org/officeDocument/2006/relationships/extended-properties" Target="/docProps/app.xml" Id="Rcb7d6166f7d24377" /><Relationship Type="http://schemas.openxmlformats.org/officeDocument/2006/relationships/officeDocument" Target="/ppt/presentation.xml" Id="R4bd4f3bcbd3f47c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9f1acf66ffe4fe0"/>
  </p:sldMasterIdLst>
  <p:notesMasterIdLst>
    <p:notesMasterId xmlns:r="http://schemas.openxmlformats.org/officeDocument/2006/relationships" r:id="Re64aeb73c3df4fec"/>
  </p:notesMasterIdLst>
  <p:sldIdLst>
    <p:sldId xmlns:r="http://schemas.openxmlformats.org/officeDocument/2006/relationships" id="256" r:id="Rf323df05429a40c3"/>
    <p:sldId xmlns:r="http://schemas.openxmlformats.org/officeDocument/2006/relationships" id="257" r:id="Rc80522b28b0e413b"/>
    <p:sldId xmlns:r="http://schemas.openxmlformats.org/officeDocument/2006/relationships" id="258" r:id="R443b8dddf4444ac0"/>
    <p:sldId xmlns:r="http://schemas.openxmlformats.org/officeDocument/2006/relationships" id="259" r:id="Rb742da800d944711"/>
    <p:sldId xmlns:r="http://schemas.openxmlformats.org/officeDocument/2006/relationships" id="260" r:id="Rf68122274ace497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f1acf66ffe4fe0" /><Relationship Type="http://schemas.openxmlformats.org/officeDocument/2006/relationships/theme" Target="/ppt/theme/theme1.xml" Id="R3fe39d980c3d46da" /><Relationship Type="http://schemas.openxmlformats.org/officeDocument/2006/relationships/notesMaster" Target="/ppt/notesMasters/notesMaster1.xml" Id="Re64aeb73c3df4fec" /><Relationship Type="http://schemas.openxmlformats.org/officeDocument/2006/relationships/presProps" Target="/ppt/presProps.xml" Id="R5ae045fde76443e7" /><Relationship Type="http://schemas.openxmlformats.org/officeDocument/2006/relationships/viewProps" Target="/ppt/viewProps.xml" Id="Rad80dfa7d9664e0d" /><Relationship Type="http://schemas.openxmlformats.org/officeDocument/2006/relationships/tableStyles" Target="/ppt/tableStyles.xml" Id="Rc8c2c6c635934f54" /><Relationship Type="http://schemas.openxmlformats.org/officeDocument/2006/relationships/slide" Target="/ppt/slides/slide1.xml" Id="Rf323df05429a40c3" /><Relationship Type="http://schemas.openxmlformats.org/officeDocument/2006/relationships/slide" Target="/ppt/slides/slide2.xml" Id="Rc80522b28b0e413b" /><Relationship Type="http://schemas.openxmlformats.org/officeDocument/2006/relationships/slide" Target="/ppt/slides/slide3.xml" Id="R443b8dddf4444ac0" /><Relationship Type="http://schemas.openxmlformats.org/officeDocument/2006/relationships/slide" Target="/ppt/slides/slide4.xml" Id="Rb742da800d944711" /><Relationship Type="http://schemas.openxmlformats.org/officeDocument/2006/relationships/slide" Target="/ppt/slides/slide5.xml" Id="Rf68122274ace497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e7ff51a93655472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95229c02b7e4848" /><Relationship Type="http://schemas.openxmlformats.org/officeDocument/2006/relationships/notesMaster" Target="/ppt/notesMasters/notesMaster1.xml" Id="R54c302826c6141c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670024499554961" /><Relationship Type="http://schemas.openxmlformats.org/officeDocument/2006/relationships/notesMaster" Target="/ppt/notesMasters/notesMaster1.xml" Id="Rf27bcf05217b40e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e4f892980c14772" /><Relationship Type="http://schemas.openxmlformats.org/officeDocument/2006/relationships/notesMaster" Target="/ppt/notesMasters/notesMaster1.xml" Id="R4f119388388043c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f04394923f346ef" /><Relationship Type="http://schemas.openxmlformats.org/officeDocument/2006/relationships/notesMaster" Target="/ppt/notesMasters/notesMaster1.xml" Id="R9b8360b3a3a04c4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3607c1991074d7f" /><Relationship Type="http://schemas.openxmlformats.org/officeDocument/2006/relationships/notesMaster" Target="/ppt/notesMasters/notesMaster1.xml" Id="R74f9ac2e359a4de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76a42ccf214c08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67554d5bb6174811" /><Relationship Type="http://schemas.openxmlformats.org/officeDocument/2006/relationships/slideLayout" Target="/ppt/slideLayouts/slideLayout2.xml" Id="R4bf9d82ddf61440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bf9d82ddf61440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348cbc74ce04c34" /><Relationship Type="http://schemas.openxmlformats.org/officeDocument/2006/relationships/image" Target="/ppt/media/image.jpeg" Id="Rb2f017b78f73403c" /><Relationship Type="http://schemas.openxmlformats.org/officeDocument/2006/relationships/notesSlide" Target="/ppt/notesSlides/notesSlide1.xml" Id="Ra66d8529e1b8444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1f18c27c0a44475" /><Relationship Type="http://schemas.openxmlformats.org/officeDocument/2006/relationships/notesSlide" Target="/ppt/notesSlides/notesSlide2.xml" Id="R8289ea6f731a46d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bf45a8f6de845e4" /><Relationship Type="http://schemas.openxmlformats.org/officeDocument/2006/relationships/notesSlide" Target="/ppt/notesSlides/notesSlide3.xml" Id="R5fc426860be4485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fb513dda72744b9" /><Relationship Type="http://schemas.openxmlformats.org/officeDocument/2006/relationships/image" Target="/ppt/media/image2.jpeg" Id="Rd637f0eb591f4f60" /><Relationship Type="http://schemas.openxmlformats.org/officeDocument/2006/relationships/image" Target="/ppt/media/image3.jpeg" Id="R936fa9c8ee45479a" /><Relationship Type="http://schemas.openxmlformats.org/officeDocument/2006/relationships/notesSlide" Target="/ppt/notesSlides/notesSlide4.xml" Id="R9ddad806728d4c2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a235fedbc304fd1" /><Relationship Type="http://schemas.openxmlformats.org/officeDocument/2006/relationships/notesSlide" Target="/ppt/notesSlides/notesSlide5.xml" Id="R612d74ef8099444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FB7BB9-138E-4157-AFBA-61F934C0C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931869-F2B5-41E3-8593-9F515518A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21526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60425C-1CA1-4033-A429-1BBE13B36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2925"/>
            <a:ext cx="1885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F80ED"/>
                </a:solidFill>
                <a:latin typeface="Aptos"/>
                <a:ea typeface="Aptos"/>
                <a:cs typeface="Aptos"/>
              </a:defRPr>
            </a:pPr>
            <a:r>
              <a:t>PartSelect AI Chat Agent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ACECA1-C31A-438F-96C5-CB26CB1D7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542925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t>Appliance parts help, from diagnosis to cart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91AC35-4E37-4D2D-9DB0-28C4254BC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81250"/>
            <a:ext cx="51435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t>A demo-ready React + FastAPI assistant for dishwasher and refrigerator parts: search, compatibility, installation, troubleshooting, and cart actions.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3DD2D5-0CC2-461A-B132-48CBF657D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76625"/>
            <a:ext cx="1809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6A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3191CD-F0C9-4A44-83DB-DEB896B85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1543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t>Postgres + pgvector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B1319F-647D-4E82-BB58-168880571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476625"/>
            <a:ext cx="20383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035849-D793-4471-B861-F8CBBBB06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543300"/>
            <a:ext cx="1771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t>Deterministic handlers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0EFB87-C96C-4F14-A3E9-B9F396045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476625"/>
            <a:ext cx="1809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4F6096-E8A7-4280-9A4D-D69905312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543300"/>
            <a:ext cx="1543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t>Live scrape fallback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D263C6-E6D2-4689-A01F-661405D59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609600"/>
            <a:ext cx="4572000" cy="554355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f017b78f73403c"/>
          <a:stretch xmlns:a="http://schemas.openxmlformats.org/drawingml/2006/main"/>
        </p:blipFill>
        <p:spPr>
          <a:xfrm xmlns:a="http://schemas.openxmlformats.org/drawingml/2006/main">
            <a:off x="7035562" y="666750"/>
            <a:ext cx="3531076" cy="5429250"/>
          </a:xfrm>
          <a:prstGeom xmlns:a="http://schemas.openxmlformats.org/drawingml/2006/main" prst="roundRect">
            <a:avLst>
              <a:gd name="adj" fmla="val 1282"/>
            </a:avLst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C7DFB7-73D2-491B-9397-F5E32690F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6191250"/>
            <a:ext cx="4286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t>Visual product cards are backed by structured metadata, not free-text parsing.</a:t>
            </a:r>
          </a:p>
        </p:txBody>
      </p:sp>
    </p:spTree>
    <p:extLst>
      <p:ext uri="{BB962C8B-B14F-4D97-AF65-F5344CB8AC3E}">
        <p14:creationId xmlns:p14="http://schemas.microsoft.com/office/powerpoint/2010/main" val="18966263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510D9B1-184F-47B7-87A8-17CDF1C21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015586-3D99-4B3B-9747-FE4BE0531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6096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t>What the assistant can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7235A0-0947-407B-BE88-3303534AF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6858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t>One chat surface covers the main appliance-parts shopping jobs.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822817-E9CD-4566-A927-5B3154F67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57350"/>
            <a:ext cx="4762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441CE6-8317-48CE-83B8-88AC132F3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57350"/>
            <a:ext cx="95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04B452-872B-48A8-AFFB-54CAE2135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66900"/>
            <a:ext cx="3714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t>Find compatible parts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31392A-6099-4753-A3FA-00AE3B559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90750"/>
            <a:ext cx="4000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t>Model-aware catalog results with product cards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28E95E-C60E-439A-BC60-1ED0F0E76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57350"/>
            <a:ext cx="4762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56C86B-16FD-4789-8411-AEE652762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57350"/>
            <a:ext cx="95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49FF2F-5389-4A70-AD17-A62179736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66900"/>
            <a:ext cx="3714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t>Check compatibility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31564A-7D4B-4FCC-9BBC-643D66FA0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90750"/>
            <a:ext cx="4000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t>PS number + model lookup against compatibility rows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62AB8A-45AD-4B10-B9C5-9510B2CBF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09900"/>
            <a:ext cx="4762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5303A2-3FC0-4111-90CD-8E8E53E9B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09900"/>
            <a:ext cx="95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DA80F5-CAA3-4F49-9215-7914118AA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19450"/>
            <a:ext cx="3714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t>Installation guidance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1EAF5D-ACB4-4613-B2FC-89D97E7A4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43300"/>
            <a:ext cx="4000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t>Step-by-step instructions from catalog data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5FADDE-0279-41E7-99E0-23165E1FC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009900"/>
            <a:ext cx="4762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CA554E-1AD4-4394-85B5-3A4C6620F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009900"/>
            <a:ext cx="95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674567-78F1-4662-B44E-6524316E1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19450"/>
            <a:ext cx="3714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t>Troubleshoot symptoms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85DA14-9685-4CDA-8A95-A33A314E4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543300"/>
            <a:ext cx="4000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t>pgvector repair/article retrieval + synthesis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32FB78-65D9-440A-B4C5-118F7FFF5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62450"/>
            <a:ext cx="4762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7C7117-DB03-474F-86D6-A03309E0F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62450"/>
            <a:ext cx="95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5DE5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4B4A6C-27A8-4653-BE72-4D6B31DA8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72000"/>
            <a:ext cx="3714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t>Cart actions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B7ED51-741C-4CB0-B74B-83BC4D3EB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95850"/>
            <a:ext cx="4000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t>Session-grounded add/remove using recent parts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EF3948-01FF-47C2-ABF3-07875583C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362450"/>
            <a:ext cx="4762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DB247F-498B-4DFD-806C-F33CE5E59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362450"/>
            <a:ext cx="95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D48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346717-C5A7-4D07-9177-BCFA2F2F2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72000"/>
            <a:ext cx="3714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t>Live fallback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254795-5AB5-499D-B590-891BAD88A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895850"/>
            <a:ext cx="4000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t>Selenium or Firecrawl for sparse runtime data</a:t>
            </a:r>
          </a:p>
        </p:txBody>
      </p:sp>
    </p:spTree>
    <p:extLst>
      <p:ext uri="{BB962C8B-B14F-4D97-AF65-F5344CB8AC3E}">
        <p14:creationId xmlns:p14="http://schemas.microsoft.com/office/powerpoint/2010/main" val="198610734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BCE9B5F-5659-40AC-826F-AA1AAAF13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B2C3CE-8FFD-4B21-A46D-3B33EAB3D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810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t>Backend flow: deterministic where it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5EECE9-EBC4-48F5-AE8B-F8F840E91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8382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t>LLMs classify and synthesize; e-commerce actions use explicit tools and database-backed state.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FC3899-4C63-4861-AFC7-FE4439BA1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47900"/>
            <a:ext cx="1409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961C25-8594-41DB-BEAC-62C9D9038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1143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t>User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31FC72-ED47-4103-B64F-E306B4000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247900"/>
            <a:ext cx="1409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6A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796705-1E5F-41E0-B355-2E24674AB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476500"/>
            <a:ext cx="1143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t>React widget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C9E481-528A-4C38-85F1-D711B878C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247900"/>
            <a:ext cx="1409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F72B49-447B-4BE1-9105-9FF234C71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476500"/>
            <a:ext cx="1143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t>FastAPI router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0D165B-7434-48F1-9822-E07B8C7D8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47900"/>
            <a:ext cx="1409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BE6FCD-BF4E-4468-97CC-ABE8FD1E3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76500"/>
            <a:ext cx="1143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t>Intent classifier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38FF5E-D99F-4EE7-97CD-4992500DC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247900"/>
            <a:ext cx="1409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B5D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152863-B4A7-48B8-989C-CD1E14993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476500"/>
            <a:ext cx="1143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t>Handlers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D30064-945B-412A-9262-B555007C9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59080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08B19E-9770-493B-9839-409B77607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59080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92A5F8-FD8F-4C8C-B7D9-4B923F82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590800"/>
            <a:ext cx="723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DF60C7-3961-4BF0-8BBB-680E04625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90800"/>
            <a:ext cx="971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BDC904-6F6B-4DFD-9557-579D3F180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829050"/>
            <a:ext cx="19621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2C5468-34D3-4958-A18E-3A1404B76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038600"/>
            <a:ext cx="1428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t>PostgreSQL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CC2D1B-8265-4B2D-8B48-28CF98D5F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343400"/>
            <a:ext cx="1524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t>parts, sessions, cart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9E2E7C-1C7E-4F4C-B893-42C41A180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829050"/>
            <a:ext cx="19621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AD40F3-A9E1-4A46-A023-1F23CAFEB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038600"/>
            <a:ext cx="1428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t>pgvector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592E9C-ADD2-4EC3-BE19-01491E692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343400"/>
            <a:ext cx="1524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t>repair/article RAG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D97B97-7472-4424-BA3A-22D3625F1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29050"/>
            <a:ext cx="19621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C1AD10-EC75-4D7F-A190-E61B877E2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038600"/>
            <a:ext cx="1428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t>Live scrape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FDFE73-FD7B-413D-A725-51071E79A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343400"/>
            <a:ext cx="1619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t>missing model/part pages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7179BE-8AF0-47A1-9500-C4968FF9C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829050"/>
            <a:ext cx="19621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DBCF56B-9924-456F-B145-2DE8A617A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038600"/>
            <a:ext cx="1428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t>SSE stream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453EC1-E619-4A60-8F33-E05F5A640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343400"/>
            <a:ext cx="1504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t>progress + done payload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67B5DE1-A8E8-4370-A415-D75488528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543550"/>
            <a:ext cx="9334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t>Guardrails map each intent to allowed tools; cart mutations never go through the general LangGraph fallback.</a:t>
            </a:r>
          </a:p>
        </p:txBody>
      </p:sp>
    </p:spTree>
    <p:extLst>
      <p:ext uri="{BB962C8B-B14F-4D97-AF65-F5344CB8AC3E}">
        <p14:creationId xmlns:p14="http://schemas.microsoft.com/office/powerpoint/2010/main" val="57660486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D1E510-6961-431D-9BFE-9C5CDA1F6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1EBE43-A128-47F1-8FC8-28D9B9575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810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t>The UI is small, but the response is rich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616DC6-B362-4B9F-887A-03D573267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8572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t>The widget can be standalone or embedded; it restores session history and displays product metadata, stages, and cart state.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43EF63-8CE3-4CA1-961D-6A9AD6275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5067300" cy="4114800"/>
          </a:xfrm>
          <a:prstGeom xmlns:a="http://schemas.openxmlformats.org/drawingml/2006/main" prst="roundRect">
            <a:avLst>
              <a:gd name="adj" fmla="val 18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37f0eb591f4f60"/>
          <a:stretch xmlns:a="http://schemas.openxmlformats.org/drawingml/2006/main"/>
        </p:blipFill>
        <p:spPr>
          <a:xfrm xmlns:a="http://schemas.openxmlformats.org/drawingml/2006/main">
            <a:off x="1842327" y="1581150"/>
            <a:ext cx="2601845" cy="4000500"/>
          </a:xfrm>
          <a:prstGeom xmlns:a="http://schemas.openxmlformats.org/drawingml/2006/main" prst="roundRect">
            <a:avLst>
              <a:gd name="adj" fmla="val 1429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2715CA-1DF7-4663-8337-AAB6997D7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524000"/>
            <a:ext cx="3829050" cy="4114800"/>
          </a:xfrm>
          <a:prstGeom xmlns:a="http://schemas.openxmlformats.org/drawingml/2006/main" prst="roundRect">
            <a:avLst>
              <a:gd name="adj" fmla="val 19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6fa9c8ee45479a"/>
          <a:stretch xmlns:a="http://schemas.openxmlformats.org/drawingml/2006/main"/>
        </p:blipFill>
        <p:spPr>
          <a:xfrm xmlns:a="http://schemas.openxmlformats.org/drawingml/2006/main">
            <a:off x="7281102" y="1581150"/>
            <a:ext cx="2601845" cy="4000500"/>
          </a:xfrm>
          <a:prstGeom xmlns:a="http://schemas.openxmlformats.org/drawingml/2006/main" prst="roundRect">
            <a:avLst>
              <a:gd name="adj" fmla="val 1538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267562-AC06-4DA7-B557-A9589F5FF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72150"/>
            <a:ext cx="1714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t>Chat response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C3BB60-A77B-4602-AA15-5A23CD2F6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19800"/>
            <a:ext cx="4095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t>Model-aware cards, PartSelect links, Add to Cart buttons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526D93-1CD0-494D-B106-ABD247ECC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772150"/>
            <a:ext cx="1714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t>Cart drawer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87FF8C-1532-43E3-B1FC-AAB7F0F64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6019800"/>
            <a:ext cx="3905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t>Session cart can be updated by explicit PS number or contextual phrases like "add it".</a:t>
            </a:r>
          </a:p>
        </p:txBody>
      </p:sp>
    </p:spTree>
    <p:extLst>
      <p:ext uri="{BB962C8B-B14F-4D97-AF65-F5344CB8AC3E}">
        <p14:creationId xmlns:p14="http://schemas.microsoft.com/office/powerpoint/2010/main" val="116230454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DB5D6F-BF8D-407D-8F7C-3664921A8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D2B973-E3A9-40FC-8AA9-A05EC00B8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810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t>Roadmap: make data fresher and queries faster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F0FB78-86B2-4CCD-920D-AC6FDD5D5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8572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t>The next stage moves runtime scraping out of the hot path and adds caching around repeated work.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190604-0916-48DD-B605-ACEC106B8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6858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80ED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011631-E957-4D69-B9DA-7C108A65B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981200"/>
            <a:ext cx="285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A517CF-DED2-4815-B640-F5F95B2D2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771650"/>
            <a:ext cx="85725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57C6A5-8216-4183-8C8E-3A8645662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943100"/>
            <a:ext cx="3429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t>Nightly whole scrape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D03B67-C130-49D9-AE15-94D4DE3A6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266950"/>
            <a:ext cx="723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t>Run full catalog and repair/article refresh on a schedule; validate before promotion.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0911E8-0758-4435-8872-6BC004D5C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6858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34A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E6B421-8182-4FC3-A133-E72996243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952750"/>
            <a:ext cx="285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C1E2B5-9876-48BE-A772-8C5243FE1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743200"/>
            <a:ext cx="85725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3CA48D-72AA-4DD3-8F3D-F3019434F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914650"/>
            <a:ext cx="3429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t>Database-first runtime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6B73DA-2CEC-4E58-B212-4B6612E4E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238500"/>
            <a:ext cx="723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t>Serve model, part, compatibility, install, and troubleshoot flows from the refreshed DB.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44FCB2-F878-43B9-A393-DA6C8940C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52850"/>
            <a:ext cx="6858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6A6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4C67A6-95F4-4302-AEA9-F54A25A54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924300"/>
            <a:ext cx="285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F2DF27-F280-4320-9EC5-03593B8F1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714750"/>
            <a:ext cx="85725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C56B9E-66E2-428C-9FE8-0E41C610B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886200"/>
            <a:ext cx="3429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t>Redis caching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7FE056-355B-4FA6-9434-FD6C7B7B7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210050"/>
            <a:ext cx="723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t>Cache catalog lookups, compatibility checks, retrieval IDs, and live fallback responses.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547DB2-78ED-4066-B4E6-C9C93F5B9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6858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715F82-3301-419B-8782-D0B983A0C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895850"/>
            <a:ext cx="285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927178-206F-475B-99F4-50FD197F7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686300"/>
            <a:ext cx="85725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7EEC65-8F4C-4811-8963-7BC43E43B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857750"/>
            <a:ext cx="3429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t>UX upgrades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C16C39-7B60-4B4D-B3A9-516807311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181600"/>
            <a:ext cx="723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t>Add source badges, stronger empty states, related-part sections, and mobile polish.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9E29A2-D64B-469F-8B3F-0EC246A03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019800"/>
            <a:ext cx="9906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t>Target production shape: scheduled data refresh + observable deterministic backend + cached reads + polished embeddable frontend.</a:t>
            </a:r>
          </a:p>
        </p:txBody>
      </p:sp>
    </p:spTree>
    <p:extLst>
      <p:ext uri="{BB962C8B-B14F-4D97-AF65-F5344CB8AC3E}">
        <p14:creationId xmlns:p14="http://schemas.microsoft.com/office/powerpoint/2010/main" val="3330631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2026-06-01T05:09:51.6260000Z</dcterms:created>
  <dcterms:modified xsi:type="dcterms:W3CDTF">2026-06-01T05:09:51.6260000Z</dcterms:modified>
</coreProperties>
</file>